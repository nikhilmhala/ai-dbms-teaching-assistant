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4" r:id="rId5"/>
    <p:sldId id="285" r:id="rId6"/>
    <p:sldId id="281" r:id="rId7"/>
    <p:sldId id="279" r:id="rId8"/>
    <p:sldId id="288" r:id="rId9"/>
    <p:sldId id="289" r:id="rId10"/>
    <p:sldId id="262" r:id="rId11"/>
    <p:sldId id="264" r:id="rId12"/>
    <p:sldId id="278" r:id="rId13"/>
    <p:sldId id="277" r:id="rId14"/>
    <p:sldId id="286" r:id="rId15"/>
    <p:sldId id="287" r:id="rId16"/>
    <p:sldId id="280" r:id="rId17"/>
    <p:sldId id="291" r:id="rId18"/>
    <p:sldId id="292" r:id="rId19"/>
    <p:sldId id="293"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054"/>
  </p:normalViewPr>
  <p:slideViewPr>
    <p:cSldViewPr snapToGrid="0">
      <p:cViewPr varScale="1">
        <p:scale>
          <a:sx n="120" d="100"/>
          <a:sy n="120" d="100"/>
        </p:scale>
        <p:origin x="25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Raje" userId="S::yogesh@edunetfoundation.org::9e0ba697-e1dc-452b-989f-11655901edb1" providerId="AD" clId="Web-{C5591CF7-6E22-14BF-DB99-3894772A19DF}"/>
    <pc:docChg chg="addSld delSld modSld sldOrd">
      <pc:chgData name="Yogesh Raje" userId="S::yogesh@edunetfoundation.org::9e0ba697-e1dc-452b-989f-11655901edb1" providerId="AD" clId="Web-{C5591CF7-6E22-14BF-DB99-3894772A19DF}" dt="2026-04-21T05:09:31.452" v="42" actId="1076"/>
      <pc:docMkLst>
        <pc:docMk/>
      </pc:docMkLst>
      <pc:sldChg chg="addSp delSp modSp">
        <pc:chgData name="Yogesh Raje" userId="S::yogesh@edunetfoundation.org::9e0ba697-e1dc-452b-989f-11655901edb1" providerId="AD" clId="Web-{C5591CF7-6E22-14BF-DB99-3894772A19DF}" dt="2026-04-21T05:09:31.452" v="42" actId="1076"/>
        <pc:sldMkLst>
          <pc:docMk/>
          <pc:sldMk cId="2115484872" sldId="277"/>
        </pc:sldMkLst>
        <pc:spChg chg="add del">
          <ac:chgData name="Yogesh Raje" userId="S::yogesh@edunetfoundation.org::9e0ba697-e1dc-452b-989f-11655901edb1" providerId="AD" clId="Web-{C5591CF7-6E22-14BF-DB99-3894772A19DF}" dt="2026-04-21T05:08:37.608" v="19"/>
          <ac:spMkLst>
            <pc:docMk/>
            <pc:sldMk cId="2115484872" sldId="277"/>
            <ac:spMk id="4" creationId="{844879C3-C686-6D6B-8780-962E76E02AC6}"/>
          </ac:spMkLst>
        </pc:spChg>
        <pc:spChg chg="add mod">
          <ac:chgData name="Yogesh Raje" userId="S::yogesh@edunetfoundation.org::9e0ba697-e1dc-452b-989f-11655901edb1" providerId="AD" clId="Web-{C5591CF7-6E22-14BF-DB99-3894772A19DF}" dt="2026-04-21T05:09:24.561" v="41" actId="20577"/>
          <ac:spMkLst>
            <pc:docMk/>
            <pc:sldMk cId="2115484872" sldId="277"/>
            <ac:spMk id="5" creationId="{1BD576A0-BF64-32B6-1E59-49AA2C59C5CE}"/>
          </ac:spMkLst>
        </pc:spChg>
        <pc:spChg chg="mod">
          <ac:chgData name="Yogesh Raje" userId="S::yogesh@edunetfoundation.org::9e0ba697-e1dc-452b-989f-11655901edb1" providerId="AD" clId="Web-{C5591CF7-6E22-14BF-DB99-3894772A19DF}" dt="2026-04-21T05:09:31.452" v="42" actId="1076"/>
          <ac:spMkLst>
            <pc:docMk/>
            <pc:sldMk cId="2115484872" sldId="277"/>
            <ac:spMk id="278" creationId="{D62F03A8-A8A8-CB93-006E-7173DC866F6F}"/>
          </ac:spMkLst>
        </pc:spChg>
        <pc:spChg chg="del">
          <ac:chgData name="Yogesh Raje" userId="S::yogesh@edunetfoundation.org::9e0ba697-e1dc-452b-989f-11655901edb1" providerId="AD" clId="Web-{C5591CF7-6E22-14BF-DB99-3894772A19DF}" dt="2026-04-21T05:03:31.415" v="7"/>
          <ac:spMkLst>
            <pc:docMk/>
            <pc:sldMk cId="2115484872" sldId="277"/>
            <ac:spMk id="279" creationId="{15507A2F-9304-7475-5C74-2BAA93879CFE}"/>
          </ac:spMkLst>
        </pc:spChg>
        <pc:picChg chg="add mod">
          <ac:chgData name="Yogesh Raje" userId="S::yogesh@edunetfoundation.org::9e0ba697-e1dc-452b-989f-11655901edb1" providerId="AD" clId="Web-{C5591CF7-6E22-14BF-DB99-3894772A19DF}" dt="2026-04-21T05:07:37.669" v="13" actId="14100"/>
          <ac:picMkLst>
            <pc:docMk/>
            <pc:sldMk cId="2115484872" sldId="277"/>
            <ac:picMk id="2" creationId="{E9DB3200-E2EC-A058-B02D-E1510060484E}"/>
          </ac:picMkLst>
        </pc:picChg>
        <pc:picChg chg="add mod">
          <ac:chgData name="Yogesh Raje" userId="S::yogesh@edunetfoundation.org::9e0ba697-e1dc-452b-989f-11655901edb1" providerId="AD" clId="Web-{C5591CF7-6E22-14BF-DB99-3894772A19DF}" dt="2026-04-21T05:08:10.982" v="17" actId="14100"/>
          <ac:picMkLst>
            <pc:docMk/>
            <pc:sldMk cId="2115484872" sldId="277"/>
            <ac:picMk id="3" creationId="{03614573-D426-9337-9C0E-5207B9123920}"/>
          </ac:picMkLst>
        </pc:picChg>
      </pc:sldChg>
      <pc:sldChg chg="ord">
        <pc:chgData name="Yogesh Raje" userId="S::yogesh@edunetfoundation.org::9e0ba697-e1dc-452b-989f-11655901edb1" providerId="AD" clId="Web-{C5591CF7-6E22-14BF-DB99-3894772A19DF}" dt="2026-04-21T05:03:33.884" v="8"/>
        <pc:sldMkLst>
          <pc:docMk/>
          <pc:sldMk cId="917964102" sldId="286"/>
        </pc:sldMkLst>
      </pc:sldChg>
      <pc:sldChg chg="new del">
        <pc:chgData name="Yogesh Raje" userId="S::yogesh@edunetfoundation.org::9e0ba697-e1dc-452b-989f-11655901edb1" providerId="AD" clId="Web-{C5591CF7-6E22-14BF-DB99-3894772A19DF}" dt="2026-04-21T05:03:13.071" v="1"/>
        <pc:sldMkLst>
          <pc:docMk/>
          <pc:sldMk cId="19189734" sldId="287"/>
        </pc:sldMkLst>
      </pc:sldChg>
      <pc:sldChg chg="add replId">
        <pc:chgData name="Yogesh Raje" userId="S::yogesh@edunetfoundation.org::9e0ba697-e1dc-452b-989f-11655901edb1" providerId="AD" clId="Web-{C5591CF7-6E22-14BF-DB99-3894772A19DF}" dt="2026-04-21T05:03:16.368" v="2"/>
        <pc:sldMkLst>
          <pc:docMk/>
          <pc:sldMk cId="2605851928"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9299B31-0988-229A-33E7-168D1A76014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845AF00-D3DC-203A-7045-E6FCD3DF69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D079839-7437-D0AC-4291-C5110CC77E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8415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F4B4055-B440-170E-2D99-D74EF57634AB}"/>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9C1F8A16-8F59-EC71-029D-2ECC8E606D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EE52CAD-7744-AF89-5D9E-EF50AAAE8F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779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A380DF0-5F61-32CC-C949-DCA80216A84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48183EA3-2250-A209-97EF-71BFE40C32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65EBC58-6542-F478-3E8C-50997F3916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885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C5AC19F-B584-3CAD-A1E9-EE101AC43C9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00EBF30-40E6-74C1-80AE-6953134F90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F74A3D9-43A5-E849-9C00-20ED4BFA67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9087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6A06DE2-9DDD-98E7-70FC-B03B4725C7E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6EB19EE-1578-07D2-9CA4-F6D9F31E80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7ABF8CD5-AD4A-CD76-715B-D7E281A0D3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2275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ncmhala@prpotepatilengg.ac.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nikhilnutrician.tiiny.site/"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github.com/nikhilmhala/AI-DBMS-Teaching-Assistant.gi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741966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Dr. Nikhil Mhala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ncmhala@prpotepatilengg.ac.in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7588751166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1569660"/>
          </a:xfrm>
          <a:prstGeom prst="rect">
            <a:avLst/>
          </a:prstGeom>
          <a:noFill/>
        </p:spPr>
        <p:txBody>
          <a:bodyPr wrap="square" rtlCol="0">
            <a:spAutoFit/>
          </a:bodyPr>
          <a:lstStyle/>
          <a:p>
            <a:r>
              <a:rPr lang="en-US" sz="2400" b="1" dirty="0"/>
              <a:t>Project Tile – </a:t>
            </a:r>
            <a:r>
              <a:rPr lang="en-IN" sz="2400" b="1" dirty="0"/>
              <a:t>AI-Powered DBMS Teaching Assistant using IBM Granite and </a:t>
            </a:r>
            <a:r>
              <a:rPr lang="en-IN" sz="2400" b="1" dirty="0" err="1"/>
              <a:t>LangFlow</a:t>
            </a:r>
            <a:endParaRPr lang="en-IN" sz="2400" b="1" dirty="0"/>
          </a:p>
          <a:p>
            <a:endParaRPr lang="en-IN" sz="2400" dirty="0"/>
          </a:p>
          <a:p>
            <a:r>
              <a:rPr lang="en-US" sz="2400" b="1" dirty="0">
                <a:highlight>
                  <a:srgbClr val="FFFF00"/>
                </a:highlight>
              </a:rPr>
              <a:t> </a:t>
            </a:r>
            <a:endParaRPr lang="en-IN" sz="2400" b="1" dirty="0">
              <a:highlight>
                <a:srgbClr val="FFFF00"/>
              </a:highlight>
            </a:endParaRPr>
          </a:p>
        </p:txBody>
      </p:sp>
      <p:pic>
        <p:nvPicPr>
          <p:cNvPr id="3" name="Picture 2">
            <a:extLst>
              <a:ext uri="{FF2B5EF4-FFF2-40B4-BE49-F238E27FC236}">
                <a16:creationId xmlns:a16="http://schemas.microsoft.com/office/drawing/2014/main" id="{16F62921-379B-7A4C-B813-E9B66C35B6E6}"/>
              </a:ext>
            </a:extLst>
          </p:cNvPr>
          <p:cNvPicPr>
            <a:picLocks noChangeAspect="1"/>
          </p:cNvPicPr>
          <p:nvPr/>
        </p:nvPicPr>
        <p:blipFill>
          <a:blip r:embed="rId4"/>
          <a:stretch>
            <a:fillRect/>
          </a:stretch>
        </p:blipFill>
        <p:spPr>
          <a:xfrm>
            <a:off x="4087262" y="3662731"/>
            <a:ext cx="814347" cy="9853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 </a:t>
            </a:r>
            <a:r>
              <a:rPr lang="en-IN" b="1" dirty="0"/>
              <a:t>AI-Powered DBMS Teaching Assistant using IBM </a:t>
            </a:r>
            <a:r>
              <a:rPr lang="en-IN" b="1" dirty="0" err="1"/>
              <a:t>watsonx</a:t>
            </a:r>
            <a:r>
              <a:rPr lang="en-IN" b="1" dirty="0"/>
              <a:t>, </a:t>
            </a:r>
            <a:r>
              <a:rPr lang="en-IN" b="1" dirty="0" err="1"/>
              <a:t>LangFlow</a:t>
            </a:r>
            <a:r>
              <a:rPr lang="en-IN" b="1" dirty="0"/>
              <a:t> and Agentic AI</a:t>
            </a:r>
            <a:endParaRPr lang="en-US" dirty="0"/>
          </a:p>
          <a:p>
            <a:pPr fontAlgn="base"/>
            <a:endParaRPr lang="en-US" b="1" dirty="0"/>
          </a:p>
          <a:p>
            <a:pPr fontAlgn="base"/>
            <a:r>
              <a:rPr lang="en-US" b="1" dirty="0"/>
              <a:t>The Challenge</a:t>
            </a:r>
            <a:r>
              <a:rPr lang="en-US" dirty="0"/>
              <a:t> </a:t>
            </a:r>
          </a:p>
          <a:p>
            <a:r>
              <a:rPr lang="en-IN" dirty="0"/>
              <a:t>Database Management Systems (DBMS) is one of the most important subjects in Computer Science and Engineering. Students often face difficulties in understanding complex concepts such as normalization, SQL queries, transaction management, indexing, concurrency control, database design, and query optimization.</a:t>
            </a:r>
          </a:p>
          <a:p>
            <a:r>
              <a:rPr lang="en-IN" dirty="0"/>
              <a:t>Traditional learning resources are scattered across books, notes, websites, and videos, making it difficult for students to obtain personalized guidance and instant doubt resolution.</a:t>
            </a:r>
          </a:p>
          <a:p>
            <a:r>
              <a:rPr lang="en-IN" dirty="0"/>
              <a:t>Faculty members also spend significant time answering repetitive questions and providing learning support outside classroom hours.</a:t>
            </a:r>
            <a:endParaRPr lang="en-US" dirty="0"/>
          </a:p>
          <a:p>
            <a:pPr fontAlgn="base"/>
            <a:endParaRPr lang="en-US" dirty="0"/>
          </a:p>
          <a:p>
            <a:pPr fontAlgn="base"/>
            <a:r>
              <a:rPr lang="en-US" b="1" dirty="0"/>
              <a:t>The Objective</a:t>
            </a:r>
            <a:r>
              <a:rPr lang="en-US" dirty="0"/>
              <a:t> </a:t>
            </a:r>
          </a:p>
          <a:p>
            <a:pPr fontAlgn="base"/>
            <a:r>
              <a:rPr lang="en-IN" dirty="0"/>
              <a:t>Develop an AI-powered DBMS Teaching Assistant that provides:</a:t>
            </a:r>
          </a:p>
          <a:p>
            <a:pPr marL="285750" indent="-285750">
              <a:buFont typeface="Arial" panose="020B0604020202020204" pitchFamily="34" charset="0"/>
              <a:buChar char="•"/>
            </a:pPr>
            <a:r>
              <a:rPr lang="en-IN" dirty="0"/>
              <a:t>Instant doubt solving for DBMS concepts</a:t>
            </a:r>
          </a:p>
          <a:p>
            <a:pPr marL="285750" indent="-285750">
              <a:buFont typeface="Arial" panose="020B0604020202020204" pitchFamily="34" charset="0"/>
              <a:buChar char="•"/>
            </a:pPr>
            <a:r>
              <a:rPr lang="en-IN" dirty="0"/>
              <a:t>Personalized learning support</a:t>
            </a:r>
          </a:p>
          <a:p>
            <a:pPr marL="285750" indent="-285750">
              <a:buFont typeface="Arial" panose="020B0604020202020204" pitchFamily="34" charset="0"/>
              <a:buChar char="•"/>
            </a:pPr>
            <a:r>
              <a:rPr lang="en-IN" dirty="0"/>
              <a:t>Query explanation and SQL assistance</a:t>
            </a:r>
          </a:p>
          <a:p>
            <a:pPr marL="285750" indent="-285750">
              <a:buFont typeface="Arial" panose="020B0604020202020204" pitchFamily="34" charset="0"/>
              <a:buChar char="•"/>
            </a:pPr>
            <a:r>
              <a:rPr lang="en-IN" dirty="0"/>
              <a:t>Retrieval of DBMS notes and educational resources</a:t>
            </a:r>
          </a:p>
          <a:p>
            <a:pPr marL="285750" indent="-285750">
              <a:buFont typeface="Arial" panose="020B0604020202020204" pitchFamily="34" charset="0"/>
              <a:buChar char="•"/>
            </a:pPr>
            <a:r>
              <a:rPr lang="en-IN" dirty="0"/>
              <a:t>Interactive learning experience using conversational AI</a:t>
            </a:r>
          </a:p>
          <a:p>
            <a:pPr marL="285750" indent="-285750">
              <a:buFont typeface="Arial" panose="020B0604020202020204" pitchFamily="34" charset="0"/>
              <a:buChar char="•"/>
            </a:pPr>
            <a:r>
              <a:rPr lang="en-IN" dirty="0"/>
              <a:t>24×7 academic assistance for students</a:t>
            </a:r>
          </a:p>
          <a:p>
            <a:pPr fontAlgn="base"/>
            <a:endParaRPr lang="en-US" dirty="0"/>
          </a:p>
          <a:p>
            <a:pPr fontAlgn="base"/>
            <a:endParaRPr lang="en-US"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3754874"/>
          </a:xfrm>
          <a:prstGeom prst="rect">
            <a:avLst/>
          </a:prstGeom>
          <a:noFill/>
        </p:spPr>
        <p:txBody>
          <a:bodyPr wrap="square" rtlCol="0">
            <a:spAutoFit/>
          </a:bodyPr>
          <a:lstStyle/>
          <a:p>
            <a:pPr fontAlgn="base"/>
            <a:endParaRPr lang="en-US" b="1" dirty="0"/>
          </a:p>
          <a:p>
            <a:pPr marL="285750" indent="-285750">
              <a:buFont typeface="Arial" panose="020B0604020202020204" pitchFamily="34" charset="0"/>
              <a:buChar char="•"/>
            </a:pPr>
            <a:r>
              <a:rPr lang="en-IN" dirty="0"/>
              <a:t>IBM </a:t>
            </a:r>
            <a:r>
              <a:rPr lang="en-IN" dirty="0" err="1"/>
              <a:t>watsonx.ai</a:t>
            </a:r>
            <a:endParaRPr lang="en-IN" dirty="0"/>
          </a:p>
          <a:p>
            <a:pPr marL="285750" indent="-285750">
              <a:buFont typeface="Arial" panose="020B0604020202020204" pitchFamily="34" charset="0"/>
              <a:buChar char="•"/>
            </a:pPr>
            <a:r>
              <a:rPr lang="en-IN" dirty="0"/>
              <a:t>IBM Granite-4.0-8B-Instruct Model</a:t>
            </a:r>
          </a:p>
          <a:p>
            <a:pPr marL="285750" indent="-285750">
              <a:buFont typeface="Arial" panose="020B0604020202020204" pitchFamily="34" charset="0"/>
              <a:buChar char="•"/>
            </a:pPr>
            <a:r>
              <a:rPr lang="en-IN" dirty="0" err="1"/>
              <a:t>LangFlow</a:t>
            </a:r>
            <a:endParaRPr lang="en-IN" dirty="0"/>
          </a:p>
          <a:p>
            <a:pPr marL="285750" indent="-285750">
              <a:buFont typeface="Arial" panose="020B0604020202020204" pitchFamily="34" charset="0"/>
              <a:buChar char="•"/>
            </a:pPr>
            <a:r>
              <a:rPr lang="en-IN" dirty="0"/>
              <a:t>IBM </a:t>
            </a:r>
            <a:r>
              <a:rPr lang="en-IN" dirty="0" err="1"/>
              <a:t>BoB</a:t>
            </a:r>
            <a:r>
              <a:rPr lang="en-IN" dirty="0"/>
              <a:t> VS Code Extension</a:t>
            </a:r>
          </a:p>
          <a:p>
            <a:pPr marL="285750" indent="-285750">
              <a:buFont typeface="Arial" panose="020B0604020202020204" pitchFamily="34" charset="0"/>
              <a:buChar char="•"/>
            </a:pPr>
            <a:r>
              <a:rPr lang="en-IN" dirty="0"/>
              <a:t>Retrieval-Augmented Generation (RAG)</a:t>
            </a:r>
          </a:p>
          <a:p>
            <a:pPr marL="285750" indent="-285750">
              <a:buFont typeface="Arial" panose="020B0604020202020204" pitchFamily="34" charset="0"/>
              <a:buChar char="•"/>
            </a:pPr>
            <a:r>
              <a:rPr lang="en-IN" dirty="0"/>
              <a:t>Flask</a:t>
            </a:r>
          </a:p>
          <a:p>
            <a:pPr marL="285750" indent="-285750">
              <a:buFont typeface="Arial" panose="020B0604020202020204" pitchFamily="34" charset="0"/>
              <a:buChar char="•"/>
            </a:pPr>
            <a:r>
              <a:rPr lang="en-IN" dirty="0" err="1"/>
              <a:t>ngrok</a:t>
            </a:r>
            <a:endParaRPr lang="en-IN" dirty="0"/>
          </a:p>
          <a:p>
            <a:pPr marL="285750" indent="-285750">
              <a:buFont typeface="Arial" panose="020B0604020202020204" pitchFamily="34" charset="0"/>
              <a:buChar char="•"/>
            </a:pPr>
            <a:r>
              <a:rPr lang="en-IN" dirty="0" err="1"/>
              <a:t>Tiiny</a:t>
            </a:r>
            <a:r>
              <a:rPr lang="en-IN" dirty="0"/>
              <a:t> Host</a:t>
            </a:r>
          </a:p>
          <a:p>
            <a:pPr marL="285750" indent="-285750">
              <a:buFont typeface="Arial" panose="020B0604020202020204" pitchFamily="34" charset="0"/>
              <a:buChar char="•"/>
            </a:pPr>
            <a:r>
              <a:rPr lang="en-IN" dirty="0"/>
              <a:t>GitHub</a:t>
            </a:r>
          </a:p>
          <a:p>
            <a:pPr marL="285750" indent="-285750">
              <a:buFont typeface="Arial" panose="020B0604020202020204" pitchFamily="34" charset="0"/>
              <a:buChar char="•"/>
            </a:pPr>
            <a:r>
              <a:rPr lang="en-IN" dirty="0"/>
              <a:t>HTML, CSS, JavaScript</a:t>
            </a:r>
          </a:p>
          <a:p>
            <a:pPr fontAlgn="base"/>
            <a:endParaRPr lang="en-IN" dirty="0">
              <a:highlight>
                <a:srgbClr val="FFFF00"/>
              </a:highlight>
            </a:endParaRP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b="1" dirty="0"/>
              <a:t>Proposed Solution: AI-Powered Nutrition Agent</a:t>
            </a:r>
          </a:p>
          <a:p>
            <a:r>
              <a:rPr lang="en-IN" dirty="0"/>
              <a:t>The proposed solution is a multi-agent AI-powered DBMS Teaching Assistant built using IBM </a:t>
            </a:r>
            <a:r>
              <a:rPr lang="en-IN" dirty="0" err="1"/>
              <a:t>watsonx.ai</a:t>
            </a:r>
            <a:r>
              <a:rPr lang="en-IN" dirty="0"/>
              <a:t>, IBM Granite Models, and </a:t>
            </a:r>
            <a:r>
              <a:rPr lang="en-IN" dirty="0" err="1"/>
              <a:t>LangFlow</a:t>
            </a:r>
            <a:r>
              <a:rPr lang="en-IN" dirty="0"/>
              <a:t>.</a:t>
            </a:r>
          </a:p>
          <a:p>
            <a:endParaRPr lang="en-IN" dirty="0"/>
          </a:p>
          <a:p>
            <a:r>
              <a:rPr lang="en-IN" dirty="0"/>
              <a:t>The system retrieves educational information from DBMS notes and learning resources using RAG and generates context-aware responses using Granite models.</a:t>
            </a:r>
          </a:p>
          <a:p>
            <a:endParaRPr lang="en-IN" dirty="0"/>
          </a:p>
          <a:p>
            <a:r>
              <a:rPr lang="en-IN" dirty="0"/>
              <a:t>The assistant acts as a virtual tutor that:</a:t>
            </a:r>
          </a:p>
          <a:p>
            <a:pPr marL="285750" indent="-285750">
              <a:buFont typeface="Arial" panose="020B0604020202020204" pitchFamily="34" charset="0"/>
              <a:buChar char="•"/>
            </a:pPr>
            <a:r>
              <a:rPr lang="en-IN" dirty="0"/>
              <a:t>Explains DBMS concepts</a:t>
            </a:r>
          </a:p>
          <a:p>
            <a:pPr marL="285750" indent="-285750">
              <a:buFont typeface="Arial" panose="020B0604020202020204" pitchFamily="34" charset="0"/>
              <a:buChar char="•"/>
            </a:pPr>
            <a:r>
              <a:rPr lang="en-IN" dirty="0"/>
              <a:t>Solves student doubts</a:t>
            </a:r>
          </a:p>
          <a:p>
            <a:pPr marL="285750" indent="-285750">
              <a:buFont typeface="Arial" panose="020B0604020202020204" pitchFamily="34" charset="0"/>
              <a:buChar char="•"/>
            </a:pPr>
            <a:r>
              <a:rPr lang="en-IN" dirty="0"/>
              <a:t>Assists with SQL queries</a:t>
            </a:r>
          </a:p>
          <a:p>
            <a:pPr marL="285750" indent="-285750">
              <a:buFont typeface="Arial" panose="020B0604020202020204" pitchFamily="34" charset="0"/>
              <a:buChar char="•"/>
            </a:pPr>
            <a:r>
              <a:rPr lang="en-IN" dirty="0"/>
              <a:t>Provides personalized learning support</a:t>
            </a:r>
          </a:p>
          <a:p>
            <a:pPr marL="285750" indent="-285750">
              <a:buFont typeface="Arial" panose="020B0604020202020204" pitchFamily="34" charset="0"/>
              <a:buChar char="•"/>
            </a:pPr>
            <a:r>
              <a:rPr lang="en-IN" dirty="0"/>
              <a:t>Maintains conversational context</a:t>
            </a:r>
          </a:p>
          <a:p>
            <a:endParaRPr lang="en-IN" dirty="0"/>
          </a:p>
          <a:p>
            <a:endParaRPr lang="en-IN" dirty="0"/>
          </a:p>
          <a:p>
            <a:endParaRPr lang="en-IN" dirty="0"/>
          </a:p>
          <a:p>
            <a:r>
              <a:rPr lang="en-IN" dirty="0"/>
              <a:t>The chatbot is deployed through </a:t>
            </a:r>
            <a:r>
              <a:rPr lang="en-IN" dirty="0" err="1"/>
              <a:t>LangFlow</a:t>
            </a:r>
            <a:r>
              <a:rPr lang="en-IN" dirty="0"/>
              <a:t> workflows, Flask API services, </a:t>
            </a:r>
            <a:r>
              <a:rPr lang="en-IN" dirty="0" err="1"/>
              <a:t>ngrok</a:t>
            </a:r>
            <a:r>
              <a:rPr lang="en-IN" dirty="0"/>
              <a:t> </a:t>
            </a:r>
            <a:r>
              <a:rPr lang="en-IN" dirty="0" err="1"/>
              <a:t>tunneling</a:t>
            </a:r>
            <a:r>
              <a:rPr lang="en-IN" dirty="0"/>
              <a:t>, and a </a:t>
            </a:r>
            <a:r>
              <a:rPr lang="en-IN" dirty="0" err="1"/>
              <a:t>Tiiny</a:t>
            </a:r>
            <a:r>
              <a:rPr lang="en-IN" dirty="0"/>
              <a:t> Host frontend interface.</a:t>
            </a:r>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endParaRPr lang="en-US" dirty="0"/>
          </a:p>
          <a:p>
            <a:r>
              <a:rPr lang="en-IN" b="1" dirty="0"/>
              <a:t>Chat Input</a:t>
            </a:r>
          </a:p>
          <a:p>
            <a:r>
              <a:rPr lang="en-IN" dirty="0"/>
              <a:t>Accepts student queries and DBMS-related questions.</a:t>
            </a:r>
          </a:p>
          <a:p>
            <a:endParaRPr lang="en-IN" dirty="0"/>
          </a:p>
          <a:p>
            <a:r>
              <a:rPr lang="en-IN" b="1" dirty="0"/>
              <a:t>IBM </a:t>
            </a:r>
            <a:r>
              <a:rPr lang="en-IN" b="1" dirty="0" err="1"/>
              <a:t>watsonx</a:t>
            </a:r>
            <a:r>
              <a:rPr lang="en-IN" b="1" dirty="0"/>
              <a:t> AI Agent</a:t>
            </a:r>
          </a:p>
          <a:p>
            <a:r>
              <a:rPr lang="en-IN" dirty="0"/>
              <a:t>Processes educational queries using IBM Granite Models.</a:t>
            </a:r>
          </a:p>
          <a:p>
            <a:endParaRPr lang="en-IN" dirty="0"/>
          </a:p>
          <a:p>
            <a:r>
              <a:rPr lang="en-IN" b="1" dirty="0"/>
              <a:t>Granite-4.0-8B-Instruct</a:t>
            </a:r>
          </a:p>
          <a:p>
            <a:r>
              <a:rPr lang="en-IN" dirty="0"/>
              <a:t>Generates intelligent educational responses.</a:t>
            </a:r>
          </a:p>
          <a:p>
            <a:endParaRPr lang="en-IN" dirty="0"/>
          </a:p>
          <a:p>
            <a:r>
              <a:rPr lang="en-IN" b="1" dirty="0"/>
              <a:t>File Component</a:t>
            </a:r>
          </a:p>
          <a:p>
            <a:r>
              <a:rPr lang="en-IN" dirty="0"/>
              <a:t>Stores and retrieves DBMS notes and learning materials.</a:t>
            </a:r>
          </a:p>
          <a:p>
            <a:endParaRPr lang="en-IN" dirty="0"/>
          </a:p>
          <a:p>
            <a:r>
              <a:rPr lang="en-IN" b="1" dirty="0"/>
              <a:t>Chat Output</a:t>
            </a:r>
          </a:p>
          <a:p>
            <a:r>
              <a:rPr lang="en-IN" dirty="0"/>
              <a:t>Displays responses generated by the AI assistant.</a:t>
            </a:r>
          </a:p>
          <a:p>
            <a:endParaRPr lang="en-IN" dirty="0"/>
          </a:p>
          <a:p>
            <a:r>
              <a:rPr lang="en-IN" b="1" dirty="0"/>
              <a:t>Memory Component</a:t>
            </a:r>
          </a:p>
          <a:p>
            <a:r>
              <a:rPr lang="en-IN" dirty="0"/>
              <a:t>Maintains conversational context.</a:t>
            </a:r>
          </a:p>
          <a:p>
            <a:endParaRPr lang="en-IN" dirty="0"/>
          </a:p>
          <a:p>
            <a:r>
              <a:rPr lang="en-IN" b="1" dirty="0"/>
              <a:t>Agent Component</a:t>
            </a:r>
          </a:p>
          <a:p>
            <a:r>
              <a:rPr lang="en-IN" dirty="0"/>
              <a:t>Coordinates reasoning and response generation.</a:t>
            </a:r>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645172E7-54DF-D188-78E2-74ECED87119B}"/>
              </a:ext>
            </a:extLst>
          </p:cNvPr>
          <p:cNvPicPr>
            <a:picLocks noChangeAspect="1"/>
          </p:cNvPicPr>
          <p:nvPr/>
        </p:nvPicPr>
        <p:blipFill>
          <a:blip r:embed="rId3"/>
          <a:stretch>
            <a:fillRect/>
          </a:stretch>
        </p:blipFill>
        <p:spPr>
          <a:xfrm>
            <a:off x="680702" y="1116419"/>
            <a:ext cx="10323996" cy="499011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88CF1-5696-8398-A74F-9DD092E176CF}"/>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D9E9D987-B103-C5F7-60CA-215DA6413497}"/>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C2FB53FF-C230-379D-705B-A2F59A5DBED6}"/>
              </a:ext>
            </a:extLst>
          </p:cNvPr>
          <p:cNvPicPr>
            <a:picLocks noChangeAspect="1"/>
          </p:cNvPicPr>
          <p:nvPr/>
        </p:nvPicPr>
        <p:blipFill>
          <a:blip r:embed="rId3"/>
          <a:stretch>
            <a:fillRect/>
          </a:stretch>
        </p:blipFill>
        <p:spPr>
          <a:xfrm>
            <a:off x="1414130" y="1416038"/>
            <a:ext cx="9144000" cy="4665140"/>
          </a:xfrm>
          <a:prstGeom prst="rect">
            <a:avLst/>
          </a:prstGeom>
        </p:spPr>
      </p:pic>
    </p:spTree>
    <p:extLst>
      <p:ext uri="{BB962C8B-B14F-4D97-AF65-F5344CB8AC3E}">
        <p14:creationId xmlns:p14="http://schemas.microsoft.com/office/powerpoint/2010/main" val="2848795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571F33F-83CB-F36D-CE94-C89DB76E8A2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1DF0F7-0E34-72BA-EB78-80C55BD565CA}"/>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O/p:-</a:t>
            </a:r>
            <a:endParaRPr sz="2400" b="1" dirty="0">
              <a:sym typeface="Times New Roman"/>
            </a:endParaRPr>
          </a:p>
        </p:txBody>
      </p:sp>
      <p:pic>
        <p:nvPicPr>
          <p:cNvPr id="7" name="Picture 6">
            <a:extLst>
              <a:ext uri="{FF2B5EF4-FFF2-40B4-BE49-F238E27FC236}">
                <a16:creationId xmlns:a16="http://schemas.microsoft.com/office/drawing/2014/main" id="{0BCABEA4-0791-C9C1-3503-E412030D5394}"/>
              </a:ext>
            </a:extLst>
          </p:cNvPr>
          <p:cNvPicPr>
            <a:picLocks noChangeAspect="1"/>
          </p:cNvPicPr>
          <p:nvPr/>
        </p:nvPicPr>
        <p:blipFill>
          <a:blip r:embed="rId3"/>
          <a:stretch>
            <a:fillRect/>
          </a:stretch>
        </p:blipFill>
        <p:spPr>
          <a:xfrm>
            <a:off x="1431223" y="1222744"/>
            <a:ext cx="7772400" cy="4841557"/>
          </a:xfrm>
          <a:prstGeom prst="rect">
            <a:avLst/>
          </a:prstGeom>
        </p:spPr>
      </p:pic>
    </p:spTree>
    <p:extLst>
      <p:ext uri="{BB962C8B-B14F-4D97-AF65-F5344CB8AC3E}">
        <p14:creationId xmlns:p14="http://schemas.microsoft.com/office/powerpoint/2010/main" val="3084570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
        <p:nvSpPr>
          <p:cNvPr id="5" name="TextBox 4">
            <a:extLst>
              <a:ext uri="{FF2B5EF4-FFF2-40B4-BE49-F238E27FC236}">
                <a16:creationId xmlns:a16="http://schemas.microsoft.com/office/drawing/2014/main" id="{CFC8CF31-739F-4030-1411-20E8D7C2C9DC}"/>
              </a:ext>
            </a:extLst>
          </p:cNvPr>
          <p:cNvSpPr txBox="1"/>
          <p:nvPr/>
        </p:nvSpPr>
        <p:spPr>
          <a:xfrm>
            <a:off x="2559788" y="1514618"/>
            <a:ext cx="6097772" cy="2893100"/>
          </a:xfrm>
          <a:prstGeom prst="rect">
            <a:avLst/>
          </a:prstGeom>
          <a:noFill/>
        </p:spPr>
        <p:txBody>
          <a:bodyPr wrap="square">
            <a:spAutoFit/>
          </a:bodyPr>
          <a:lstStyle/>
          <a:p>
            <a:r>
              <a:rPr lang="en-US" dirty="0"/>
              <a:t>Student</a:t>
            </a:r>
          </a:p>
          <a:p>
            <a:r>
              <a:rPr lang="en-US" dirty="0"/>
              <a:t>   ↓</a:t>
            </a:r>
          </a:p>
          <a:p>
            <a:r>
              <a:rPr lang="en-US" dirty="0"/>
              <a:t>Web Interface</a:t>
            </a:r>
          </a:p>
          <a:p>
            <a:r>
              <a:rPr lang="en-US" dirty="0"/>
              <a:t>   ↓</a:t>
            </a:r>
          </a:p>
          <a:p>
            <a:r>
              <a:rPr lang="en-US" dirty="0"/>
              <a:t>Flask + </a:t>
            </a:r>
            <a:r>
              <a:rPr lang="en-US" dirty="0" err="1"/>
              <a:t>ngrok</a:t>
            </a:r>
            <a:endParaRPr lang="en-US" dirty="0"/>
          </a:p>
          <a:p>
            <a:r>
              <a:rPr lang="en-US" dirty="0"/>
              <a:t>   ↓</a:t>
            </a:r>
          </a:p>
          <a:p>
            <a:r>
              <a:rPr lang="en-US" dirty="0" err="1"/>
              <a:t>LangFlow</a:t>
            </a:r>
            <a:endParaRPr lang="en-US" dirty="0"/>
          </a:p>
          <a:p>
            <a:r>
              <a:rPr lang="en-US" dirty="0"/>
              <a:t>   ↓</a:t>
            </a:r>
          </a:p>
          <a:p>
            <a:r>
              <a:rPr lang="en-US" dirty="0"/>
              <a:t>Knowledge Base</a:t>
            </a:r>
          </a:p>
          <a:p>
            <a:r>
              <a:rPr lang="en-US" dirty="0"/>
              <a:t>   ↓</a:t>
            </a:r>
          </a:p>
          <a:p>
            <a:r>
              <a:rPr lang="en-US" dirty="0"/>
              <a:t>IBM </a:t>
            </a:r>
            <a:r>
              <a:rPr lang="en-US" dirty="0" err="1"/>
              <a:t>watsonx.ai</a:t>
            </a:r>
            <a:r>
              <a:rPr lang="en-US" dirty="0"/>
              <a:t> + Granite</a:t>
            </a:r>
          </a:p>
          <a:p>
            <a:r>
              <a:rPr lang="en-US" dirty="0"/>
              <a:t>   ↓</a:t>
            </a:r>
          </a:p>
          <a:p>
            <a:r>
              <a:rPr lang="en-US" dirty="0"/>
              <a:t>AI Response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IN" b="1" dirty="0"/>
              <a:t>Role of Agentic AI in the Solution:</a:t>
            </a:r>
            <a:endParaRPr lang="en-IN" dirty="0"/>
          </a:p>
          <a:p>
            <a:pPr marL="285750" indent="-285750">
              <a:lnSpc>
                <a:spcPct val="150000"/>
              </a:lnSpc>
              <a:buFont typeface="Arial" panose="020B0604020202020204" pitchFamily="34" charset="0"/>
              <a:buChar char="•"/>
            </a:pPr>
            <a:r>
              <a:rPr lang="en-IN" dirty="0"/>
              <a:t>Understands student intent and DBMS-related queries.</a:t>
            </a:r>
          </a:p>
          <a:p>
            <a:pPr marL="285750" indent="-285750">
              <a:lnSpc>
                <a:spcPct val="150000"/>
              </a:lnSpc>
              <a:buFont typeface="Arial" panose="020B0604020202020204" pitchFamily="34" charset="0"/>
              <a:buChar char="•"/>
            </a:pPr>
            <a:r>
              <a:rPr lang="en-IN" dirty="0"/>
              <a:t>Retrieves relevant educational content using RAG.</a:t>
            </a:r>
          </a:p>
          <a:p>
            <a:pPr marL="285750" indent="-285750">
              <a:lnSpc>
                <a:spcPct val="150000"/>
              </a:lnSpc>
              <a:buFont typeface="Arial" panose="020B0604020202020204" pitchFamily="34" charset="0"/>
              <a:buChar char="•"/>
            </a:pPr>
            <a:r>
              <a:rPr lang="en-IN" dirty="0"/>
              <a:t>Generates personalized explanations using IBM Granite Models.</a:t>
            </a:r>
          </a:p>
          <a:p>
            <a:pPr marL="285750" indent="-285750">
              <a:lnSpc>
                <a:spcPct val="150000"/>
              </a:lnSpc>
              <a:buFont typeface="Arial" panose="020B0604020202020204" pitchFamily="34" charset="0"/>
              <a:buChar char="•"/>
            </a:pPr>
            <a:r>
              <a:rPr lang="en-IN" dirty="0"/>
              <a:t>Maintains conversational context for better interactions.</a:t>
            </a:r>
          </a:p>
          <a:p>
            <a:pPr marL="285750" indent="-285750">
              <a:lnSpc>
                <a:spcPct val="150000"/>
              </a:lnSpc>
              <a:buFont typeface="Arial" panose="020B0604020202020204" pitchFamily="34" charset="0"/>
              <a:buChar char="•"/>
            </a:pPr>
            <a:r>
              <a:rPr lang="en-IN" dirty="0"/>
              <a:t>Assists students with SQL queries and DBMS concepts.</a:t>
            </a:r>
          </a:p>
          <a:p>
            <a:pPr marL="285750" indent="-285750">
              <a:lnSpc>
                <a:spcPct val="150000"/>
              </a:lnSpc>
              <a:buFont typeface="Arial" panose="020B0604020202020204" pitchFamily="34" charset="0"/>
              <a:buChar char="•"/>
            </a:pPr>
            <a:r>
              <a:rPr lang="en-IN" dirty="0"/>
              <a:t>Provides 24×7 academic support.</a:t>
            </a:r>
          </a:p>
          <a:p>
            <a:pPr marL="285750" indent="-285750">
              <a:lnSpc>
                <a:spcPct val="150000"/>
              </a:lnSpc>
              <a:buFont typeface="Arial" panose="020B0604020202020204" pitchFamily="34" charset="0"/>
              <a:buChar char="•"/>
            </a:pPr>
            <a:r>
              <a:rPr lang="en-IN" dirty="0"/>
              <a:t>Improves learning outcomes through personalized guidance.</a:t>
            </a:r>
          </a:p>
          <a:p>
            <a:pPr marL="285750" indent="-285750">
              <a:lnSpc>
                <a:spcPct val="150000"/>
              </a:lnSpc>
              <a:buFont typeface="Arial" panose="020B0604020202020204" pitchFamily="34" charset="0"/>
              <a:buChar char="•"/>
            </a:pPr>
            <a:r>
              <a:rPr lang="en-IN" dirty="0"/>
              <a:t>Acts as an intelligent virtual DBMS tutor rather than a traditional chatbot.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946297"/>
            <a:ext cx="10515600" cy="5632311"/>
          </a:xfrm>
          <a:prstGeom prst="rect">
            <a:avLst/>
          </a:prstGeom>
          <a:noFill/>
        </p:spPr>
        <p:txBody>
          <a:bodyPr wrap="square" rtlCol="0">
            <a:spAutoFit/>
          </a:bodyPr>
          <a:lstStyle/>
          <a:p>
            <a:r>
              <a:rPr lang="en-IN" sz="1800" b="1" dirty="0" err="1"/>
              <a:t>LangFlow</a:t>
            </a:r>
            <a:endParaRPr lang="en-IN" sz="1800" b="1" dirty="0"/>
          </a:p>
          <a:p>
            <a:r>
              <a:rPr lang="en-IN" sz="1800" dirty="0"/>
              <a:t>Used for workflow design and orchestration.</a:t>
            </a:r>
          </a:p>
          <a:p>
            <a:endParaRPr lang="en-IN" sz="1800" dirty="0"/>
          </a:p>
          <a:p>
            <a:r>
              <a:rPr lang="en-IN" sz="1800" b="1" dirty="0"/>
              <a:t>IBM Granite Model</a:t>
            </a:r>
          </a:p>
          <a:p>
            <a:r>
              <a:rPr lang="en-IN" sz="1800" dirty="0"/>
              <a:t>Used for reasoning, educational explanations, and response generation.</a:t>
            </a:r>
          </a:p>
          <a:p>
            <a:endParaRPr lang="en-IN" sz="1800" dirty="0"/>
          </a:p>
          <a:p>
            <a:r>
              <a:rPr lang="en-IN" sz="1800" b="1" dirty="0"/>
              <a:t>IBM </a:t>
            </a:r>
            <a:r>
              <a:rPr lang="en-IN" sz="1800" b="1" dirty="0" err="1"/>
              <a:t>watsonx.ai</a:t>
            </a:r>
            <a:endParaRPr lang="en-IN" sz="1800" b="1" dirty="0"/>
          </a:p>
          <a:p>
            <a:r>
              <a:rPr lang="en-IN" sz="1800" dirty="0"/>
              <a:t>Used for model access and deployment.</a:t>
            </a:r>
          </a:p>
          <a:p>
            <a:endParaRPr lang="en-IN" sz="1800" dirty="0"/>
          </a:p>
          <a:p>
            <a:r>
              <a:rPr lang="en-IN" sz="1800" b="1" dirty="0"/>
              <a:t>IBM </a:t>
            </a:r>
            <a:r>
              <a:rPr lang="en-IN" sz="1800" b="1" dirty="0" err="1"/>
              <a:t>BoB</a:t>
            </a:r>
            <a:r>
              <a:rPr lang="en-IN" sz="1800" b="1" dirty="0"/>
              <a:t> VS Code Extension</a:t>
            </a:r>
          </a:p>
          <a:p>
            <a:r>
              <a:rPr lang="en-IN" sz="1800" dirty="0"/>
              <a:t>Used for rapid development, code generation, workflow enhancement, and website improvements.</a:t>
            </a:r>
          </a:p>
          <a:p>
            <a:endParaRPr lang="en-IN" sz="1800" dirty="0"/>
          </a:p>
          <a:p>
            <a:r>
              <a:rPr lang="en-IN" sz="1800" b="1" dirty="0"/>
              <a:t>RAG</a:t>
            </a:r>
          </a:p>
          <a:p>
            <a:r>
              <a:rPr lang="en-IN" sz="1800" dirty="0"/>
              <a:t>Used for accurate retrieval of DBMS educational content.</a:t>
            </a:r>
          </a:p>
          <a:p>
            <a:endParaRPr lang="en-IN" sz="1800" dirty="0"/>
          </a:p>
          <a:p>
            <a:r>
              <a:rPr lang="en-IN" sz="1800" b="1" dirty="0"/>
              <a:t>Flask :</a:t>
            </a:r>
            <a:r>
              <a:rPr lang="en-IN" sz="1800" dirty="0"/>
              <a:t>Used   as middleware API layer.</a:t>
            </a:r>
          </a:p>
          <a:p>
            <a:endParaRPr lang="en-IN" sz="1800" dirty="0"/>
          </a:p>
          <a:p>
            <a:r>
              <a:rPr lang="en-IN" sz="1800" b="1" dirty="0" err="1"/>
              <a:t>Ngrok</a:t>
            </a:r>
            <a:r>
              <a:rPr lang="en-IN" sz="1800" b="1" dirty="0"/>
              <a:t> :</a:t>
            </a:r>
            <a:r>
              <a:rPr lang="en-IN" sz="1800" dirty="0"/>
              <a:t>Used to securely expose local deployment.</a:t>
            </a:r>
          </a:p>
          <a:p>
            <a:endParaRPr lang="en-IN" sz="1800" dirty="0"/>
          </a:p>
          <a:p>
            <a:r>
              <a:rPr lang="en-IN" sz="1800" b="1" dirty="0" err="1"/>
              <a:t>Tiiny</a:t>
            </a:r>
            <a:r>
              <a:rPr lang="en-IN" sz="1800" b="1" dirty="0"/>
              <a:t> Host :</a:t>
            </a:r>
            <a:r>
              <a:rPr lang="en-IN" sz="1800" dirty="0"/>
              <a:t>Used for frontend deployment.</a:t>
            </a:r>
            <a:endParaRPr lang="en-US" sz="1800" dirty="0"/>
          </a:p>
        </p:txBody>
      </p:sp>
    </p:spTree>
    <p:extLst>
      <p:ext uri="{BB962C8B-B14F-4D97-AF65-F5344CB8AC3E}">
        <p14:creationId xmlns:p14="http://schemas.microsoft.com/office/powerpoint/2010/main" val="376440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token are used :- 0.9 CHU</a:t>
            </a:r>
          </a:p>
        </p:txBody>
      </p:sp>
      <p:pic>
        <p:nvPicPr>
          <p:cNvPr id="6" name="Picture 5">
            <a:extLst>
              <a:ext uri="{FF2B5EF4-FFF2-40B4-BE49-F238E27FC236}">
                <a16:creationId xmlns:a16="http://schemas.microsoft.com/office/drawing/2014/main" id="{4564FC97-9AAC-75F2-204E-5320682E93EE}"/>
              </a:ext>
            </a:extLst>
          </p:cNvPr>
          <p:cNvPicPr>
            <a:picLocks noChangeAspect="1"/>
          </p:cNvPicPr>
          <p:nvPr/>
        </p:nvPicPr>
        <p:blipFill>
          <a:blip r:embed="rId3"/>
          <a:stretch>
            <a:fillRect/>
          </a:stretch>
        </p:blipFill>
        <p:spPr>
          <a:xfrm>
            <a:off x="1553781" y="1696488"/>
            <a:ext cx="7772400" cy="432527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847207"/>
          </a:xfrm>
          <a:prstGeom prst="rect">
            <a:avLst/>
          </a:prstGeom>
          <a:noFill/>
        </p:spPr>
        <p:txBody>
          <a:bodyPr wrap="square" rtlCol="0">
            <a:spAutoFit/>
          </a:bodyPr>
          <a:lstStyle/>
          <a:p>
            <a:r>
              <a:rPr lang="en-IN" sz="1800" dirty="0"/>
              <a:t>The proposed DBMS Agent stands out by combining </a:t>
            </a:r>
            <a:r>
              <a:rPr lang="en-IN" sz="1800" b="1" dirty="0"/>
              <a:t>Agentic AI, RAG, and personalization</a:t>
            </a:r>
            <a:r>
              <a:rPr lang="en-IN" sz="1800" dirty="0"/>
              <a:t> into a single intelligent system.</a:t>
            </a:r>
          </a:p>
          <a:p>
            <a:endParaRPr lang="en-IN" sz="1800" dirty="0"/>
          </a:p>
          <a:p>
            <a:pPr marL="285750" indent="-285750">
              <a:buFont typeface="Arial" panose="020B0604020202020204" pitchFamily="34" charset="0"/>
              <a:buChar char="•"/>
            </a:pPr>
            <a:r>
              <a:rPr lang="en-IN" sz="1800" dirty="0"/>
              <a:t>Agentic AI based educational assistant</a:t>
            </a:r>
          </a:p>
          <a:p>
            <a:pPr marL="285750" indent="-285750">
              <a:buFont typeface="Arial" panose="020B0604020202020204" pitchFamily="34" charset="0"/>
              <a:buChar char="•"/>
            </a:pPr>
            <a:r>
              <a:rPr lang="en-IN" sz="1800" dirty="0"/>
              <a:t>Personalized DBMS learning support</a:t>
            </a:r>
          </a:p>
          <a:p>
            <a:pPr marL="285750" indent="-285750">
              <a:buFont typeface="Arial" panose="020B0604020202020204" pitchFamily="34" charset="0"/>
              <a:buChar char="•"/>
            </a:pPr>
            <a:r>
              <a:rPr lang="en-IN" sz="1800" dirty="0"/>
              <a:t>IBM Granite powered responses</a:t>
            </a:r>
          </a:p>
          <a:p>
            <a:pPr marL="285750" indent="-285750">
              <a:buFont typeface="Arial" panose="020B0604020202020204" pitchFamily="34" charset="0"/>
              <a:buChar char="•"/>
            </a:pPr>
            <a:r>
              <a:rPr lang="en-IN" sz="1800" dirty="0"/>
              <a:t>Retrieval-Augmented Generation</a:t>
            </a:r>
          </a:p>
          <a:p>
            <a:pPr marL="285750" indent="-285750">
              <a:buFont typeface="Arial" panose="020B0604020202020204" pitchFamily="34" charset="0"/>
              <a:buChar char="•"/>
            </a:pPr>
            <a:r>
              <a:rPr lang="en-IN" sz="1800" dirty="0"/>
              <a:t>Website integration with academic portal</a:t>
            </a:r>
          </a:p>
          <a:p>
            <a:pPr marL="285750" indent="-285750">
              <a:buFont typeface="Arial" panose="020B0604020202020204" pitchFamily="34" charset="0"/>
              <a:buChar char="•"/>
            </a:pPr>
            <a:r>
              <a:rPr lang="en-IN" sz="1800" dirty="0"/>
              <a:t>24×7 availability</a:t>
            </a:r>
          </a:p>
          <a:p>
            <a:pPr marL="285750" indent="-285750">
              <a:buFont typeface="Arial" panose="020B0604020202020204" pitchFamily="34" charset="0"/>
              <a:buChar char="•"/>
            </a:pPr>
            <a:r>
              <a:rPr lang="en-IN" sz="1800" dirty="0"/>
              <a:t>Context-aware learning experience</a:t>
            </a:r>
          </a:p>
          <a:p>
            <a:pPr marL="285750" indent="-285750">
              <a:buFont typeface="Arial" panose="020B0604020202020204" pitchFamily="34" charset="0"/>
              <a:buChar char="•"/>
            </a:pPr>
            <a:r>
              <a:rPr lang="en-IN" sz="1800" dirty="0"/>
              <a:t>Fast deployment using </a:t>
            </a:r>
            <a:r>
              <a:rPr lang="en-IN" sz="1800" dirty="0" err="1"/>
              <a:t>LangFlow</a:t>
            </a:r>
            <a:r>
              <a:rPr lang="en-IN" sz="1800" dirty="0"/>
              <a:t> and IBM technologies</a:t>
            </a:r>
          </a:p>
          <a:p>
            <a:pPr marL="285750" indent="-285750">
              <a:buFont typeface="Arial" panose="020B0604020202020204" pitchFamily="34" charset="0"/>
              <a:buChar char="•"/>
            </a:pPr>
            <a:endParaRPr lang="en-IN" sz="1800" dirty="0"/>
          </a:p>
          <a:p>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a:p>
            <a:pPr lvl="0">
              <a:lnSpc>
                <a:spcPct val="162162"/>
              </a:lnSpc>
              <a:buClr>
                <a:srgbClr val="2B3541"/>
              </a:buClr>
              <a:buSzPts val="1850"/>
            </a:pPr>
            <a:r>
              <a:rPr lang="en-IN" sz="1850" dirty="0">
                <a:latin typeface="Times New Roman"/>
                <a:ea typeface="Times New Roman"/>
                <a:cs typeface="Times New Roman"/>
                <a:sym typeface="Times New Roman"/>
              </a:rPr>
              <a:t>Hosted Model URL for testing :- </a:t>
            </a:r>
            <a:r>
              <a:rPr lang="en-IN" sz="1850" dirty="0">
                <a:latin typeface="Times New Roman"/>
                <a:ea typeface="Times New Roman"/>
                <a:cs typeface="Times New Roman"/>
                <a:sym typeface="Times New Roman"/>
                <a:hlinkClick r:id="rId3"/>
              </a:rPr>
              <a:t>https://nikhilnutrician.tiiny.site/</a:t>
            </a:r>
            <a:endParaRPr lang="en-IN" sz="1850" dirty="0">
              <a:latin typeface="Times New Roman"/>
              <a:ea typeface="Times New Roman"/>
              <a:cs typeface="Times New Roman"/>
              <a:sym typeface="Times New Roman"/>
            </a:endParaRPr>
          </a:p>
          <a:p>
            <a:pPr lvl="0">
              <a:lnSpc>
                <a:spcPct val="162162"/>
              </a:lnSpc>
              <a:buClr>
                <a:srgbClr val="2B3541"/>
              </a:buClr>
              <a:buSzPts val="1850"/>
            </a:pPr>
            <a:r>
              <a:rPr lang="en-IN" sz="1850" b="0" i="0" u="none" strike="noStrike" cap="none" dirty="0" err="1">
                <a:solidFill>
                  <a:srgbClr val="000000"/>
                </a:solidFill>
                <a:latin typeface="Times New Roman"/>
                <a:ea typeface="Times New Roman"/>
                <a:cs typeface="Times New Roman"/>
                <a:sym typeface="Times New Roman"/>
              </a:rPr>
              <a:t>Github</a:t>
            </a:r>
            <a:r>
              <a:rPr lang="en-IN" sz="1850" b="0" i="0" u="none" strike="noStrike" cap="none" dirty="0">
                <a:solidFill>
                  <a:srgbClr val="000000"/>
                </a:solidFill>
                <a:latin typeface="Times New Roman"/>
                <a:ea typeface="Times New Roman"/>
                <a:cs typeface="Times New Roman"/>
                <a:sym typeface="Times New Roman"/>
              </a:rPr>
              <a:t> Link:- </a:t>
            </a:r>
            <a:r>
              <a:rPr lang="en-IN" sz="1850" b="0" i="0" u="none" strike="noStrike" cap="none" dirty="0">
                <a:solidFill>
                  <a:srgbClr val="000000"/>
                </a:solidFill>
                <a:latin typeface="Times New Roman"/>
                <a:ea typeface="Times New Roman"/>
                <a:cs typeface="Times New Roman"/>
                <a:sym typeface="Times New Roman"/>
                <a:hlinkClick r:id="rId4"/>
              </a:rPr>
              <a:t>Click Here</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Future Scope</a:t>
            </a:r>
          </a:p>
          <a:p>
            <a:pPr marL="457200" indent="-457200">
              <a:buFont typeface="Arial" panose="020B0604020202020204" pitchFamily="34" charset="0"/>
              <a:buChar char="•"/>
            </a:pPr>
            <a:r>
              <a:rPr lang="en-IN" sz="2000" dirty="0"/>
              <a:t>Voice-Based Learning Assistant</a:t>
            </a:r>
          </a:p>
          <a:p>
            <a:r>
              <a:rPr lang="en-IN" sz="2000" b="1" dirty="0"/>
              <a:t>Support speech-based DBMS question answering.</a:t>
            </a:r>
          </a:p>
          <a:p>
            <a:pPr marL="457200" indent="-457200">
              <a:buFont typeface="Arial" panose="020B0604020202020204" pitchFamily="34" charset="0"/>
              <a:buChar char="•"/>
            </a:pPr>
            <a:r>
              <a:rPr lang="en-IN" sz="2000" dirty="0"/>
              <a:t>Multilingual Learning</a:t>
            </a:r>
          </a:p>
          <a:p>
            <a:r>
              <a:rPr lang="en-IN" sz="2000" b="1" dirty="0"/>
              <a:t>Support English, Hindi, Marathi, and other languages.</a:t>
            </a:r>
          </a:p>
          <a:p>
            <a:pPr marL="342900" indent="-342900">
              <a:buFont typeface="Arial" panose="020B0604020202020204" pitchFamily="34" charset="0"/>
              <a:buChar char="•"/>
            </a:pPr>
            <a:r>
              <a:rPr lang="en-IN" sz="2000" dirty="0"/>
              <a:t>Student Analytics Dashboard</a:t>
            </a:r>
          </a:p>
          <a:p>
            <a:r>
              <a:rPr lang="en-IN" sz="2000" b="1" dirty="0"/>
              <a:t>Track learning progress and identify weak areas.</a:t>
            </a:r>
          </a:p>
          <a:p>
            <a:pPr marL="342900" indent="-342900">
              <a:buFont typeface="Arial" panose="020B0604020202020204" pitchFamily="34" charset="0"/>
              <a:buChar char="•"/>
            </a:pPr>
            <a:r>
              <a:rPr lang="en-IN" sz="2000" dirty="0"/>
              <a:t>LMS Integration</a:t>
            </a:r>
          </a:p>
          <a:p>
            <a:r>
              <a:rPr lang="en-IN" sz="2000" b="1" dirty="0"/>
              <a:t>Integrate with Moodle and Google Classroom.</a:t>
            </a:r>
          </a:p>
          <a:p>
            <a:pPr marL="342900" indent="-342900">
              <a:buFont typeface="Arial" panose="020B0604020202020204" pitchFamily="34" charset="0"/>
              <a:buChar char="•"/>
            </a:pPr>
            <a:r>
              <a:rPr lang="en-IN" sz="2000" dirty="0"/>
              <a:t>Multi-Subject Expansion</a:t>
            </a:r>
          </a:p>
          <a:p>
            <a:endParaRPr lang="en-IN" sz="2000" dirty="0"/>
          </a:p>
          <a:p>
            <a:r>
              <a:rPr lang="en-IN" sz="2000" dirty="0"/>
              <a:t>Extend to Data Structures, Algorithms, Operating Systems, Machine Learning, and Deep Learning.</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BEEC5BE-9F2B-1500-09DC-5EE865BCD5C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6729EDD-2350-D665-BFC7-DD94BC6E5843}"/>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BoB</a:t>
            </a:r>
            <a:r>
              <a:rPr lang="en-US" sz="2400" b="1" dirty="0">
                <a:sym typeface="Times New Roman"/>
              </a:rPr>
              <a:t> Certificate </a:t>
            </a:r>
            <a:endParaRPr sz="2400" b="1" dirty="0">
              <a:sym typeface="Times New Roman"/>
            </a:endParaRPr>
          </a:p>
        </p:txBody>
      </p:sp>
      <p:sp>
        <p:nvSpPr>
          <p:cNvPr id="279" name="Google Shape;279;p18">
            <a:extLst>
              <a:ext uri="{FF2B5EF4-FFF2-40B4-BE49-F238E27FC236}">
                <a16:creationId xmlns:a16="http://schemas.microsoft.com/office/drawing/2014/main" id="{436E9967-0B7A-371E-D7EB-780D17713A40}"/>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6B906531-9F37-E098-ADDA-A3D29CA64BD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61647CC4-2310-3018-A783-EFC352AE4F1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B282B668-AE2C-087E-A3E8-A7B4614ABC1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000D7D0-AC97-F0C4-D051-D6A7805662F5}"/>
              </a:ext>
            </a:extLst>
          </p:cNvPr>
          <p:cNvPicPr>
            <a:picLocks noChangeAspect="1"/>
          </p:cNvPicPr>
          <p:nvPr/>
        </p:nvPicPr>
        <p:blipFill>
          <a:blip r:embed="rId3"/>
          <a:stretch>
            <a:fillRect/>
          </a:stretch>
        </p:blipFill>
        <p:spPr>
          <a:xfrm>
            <a:off x="1218724" y="1221715"/>
            <a:ext cx="9754552" cy="5492373"/>
          </a:xfrm>
          <a:prstGeom prst="rect">
            <a:avLst/>
          </a:prstGeom>
        </p:spPr>
      </p:pic>
    </p:spTree>
    <p:extLst>
      <p:ext uri="{BB962C8B-B14F-4D97-AF65-F5344CB8AC3E}">
        <p14:creationId xmlns:p14="http://schemas.microsoft.com/office/powerpoint/2010/main" val="3263173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24B769B-631B-A173-D1BA-06B013326B0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A03B94E-4C3C-C5D9-CF15-4742CB230276}"/>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Credly</a:t>
            </a:r>
            <a:r>
              <a:rPr lang="en-US" sz="2400" b="1" dirty="0">
                <a:sym typeface="Times New Roman"/>
              </a:rPr>
              <a:t> Certificates: Getting Started with AI</a:t>
            </a:r>
            <a:endParaRPr sz="2400" b="1" dirty="0">
              <a:sym typeface="Times New Roman"/>
            </a:endParaRPr>
          </a:p>
        </p:txBody>
      </p:sp>
      <p:sp>
        <p:nvSpPr>
          <p:cNvPr id="279" name="Google Shape;279;p18">
            <a:extLst>
              <a:ext uri="{FF2B5EF4-FFF2-40B4-BE49-F238E27FC236}">
                <a16:creationId xmlns:a16="http://schemas.microsoft.com/office/drawing/2014/main" id="{D1C1C6AD-FD3C-BB71-105C-B816737F3061}"/>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82B05D54-5D8F-1D9D-7B49-5E6B95D114F6}"/>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83C0F175-7800-2EE9-9453-6CC7F514919E}"/>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4AFAA55-2957-80CC-73F7-C3A73A42989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0C983958-4393-B2C1-C0A1-B878AF281E19}"/>
              </a:ext>
            </a:extLst>
          </p:cNvPr>
          <p:cNvPicPr>
            <a:picLocks noChangeAspect="1"/>
          </p:cNvPicPr>
          <p:nvPr/>
        </p:nvPicPr>
        <p:blipFill>
          <a:blip r:embed="rId3"/>
          <a:stretch>
            <a:fillRect/>
          </a:stretch>
        </p:blipFill>
        <p:spPr>
          <a:xfrm>
            <a:off x="1961730" y="1221716"/>
            <a:ext cx="7415977" cy="5455532"/>
          </a:xfrm>
          <a:prstGeom prst="rect">
            <a:avLst/>
          </a:prstGeom>
        </p:spPr>
      </p:pic>
    </p:spTree>
    <p:extLst>
      <p:ext uri="{BB962C8B-B14F-4D97-AF65-F5344CB8AC3E}">
        <p14:creationId xmlns:p14="http://schemas.microsoft.com/office/powerpoint/2010/main" val="3884615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4A953D0-4168-6903-81BA-922C2C34F00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2122778-9937-EAF3-FBD8-A81AA60E550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Credly</a:t>
            </a:r>
            <a:r>
              <a:rPr lang="en-US" sz="2400" b="1" dirty="0">
                <a:sym typeface="Times New Roman"/>
              </a:rPr>
              <a:t> Certificates: Generative AI in Action</a:t>
            </a:r>
            <a:endParaRPr sz="2400" b="1" dirty="0">
              <a:sym typeface="Times New Roman"/>
            </a:endParaRPr>
          </a:p>
        </p:txBody>
      </p:sp>
      <p:sp>
        <p:nvSpPr>
          <p:cNvPr id="279" name="Google Shape;279;p18">
            <a:extLst>
              <a:ext uri="{FF2B5EF4-FFF2-40B4-BE49-F238E27FC236}">
                <a16:creationId xmlns:a16="http://schemas.microsoft.com/office/drawing/2014/main" id="{A32D0797-4974-F523-3E6E-FDA121369367}"/>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8ADF681E-838E-E439-E2E6-25DCBB5E9D9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4FBF494-42F3-A4CE-EF55-FD9670752C7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7654D8C-393C-71C6-3B25-9DB9F10C94B0}"/>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E11DE2B-EAB3-39D1-2806-A6A25BB43DA5}"/>
              </a:ext>
            </a:extLst>
          </p:cNvPr>
          <p:cNvPicPr>
            <a:picLocks noChangeAspect="1"/>
          </p:cNvPicPr>
          <p:nvPr/>
        </p:nvPicPr>
        <p:blipFill>
          <a:blip r:embed="rId3"/>
          <a:stretch>
            <a:fillRect/>
          </a:stretch>
        </p:blipFill>
        <p:spPr>
          <a:xfrm>
            <a:off x="2359556" y="1254444"/>
            <a:ext cx="6932916" cy="5357253"/>
          </a:xfrm>
          <a:prstGeom prst="rect">
            <a:avLst/>
          </a:prstGeom>
        </p:spPr>
      </p:pic>
    </p:spTree>
    <p:extLst>
      <p:ext uri="{BB962C8B-B14F-4D97-AF65-F5344CB8AC3E}">
        <p14:creationId xmlns:p14="http://schemas.microsoft.com/office/powerpoint/2010/main" val="357763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1262</TotalTime>
  <Words>813</Words>
  <Application>Microsoft Macintosh PowerPoint</Application>
  <PresentationFormat>Widescreen</PresentationFormat>
  <Paragraphs>187</Paragraphs>
  <Slides>20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Office</cp:lastModifiedBy>
  <cp:revision>42</cp:revision>
  <dcterms:created xsi:type="dcterms:W3CDTF">2025-07-08T05:06:56Z</dcterms:created>
  <dcterms:modified xsi:type="dcterms:W3CDTF">2026-06-19T06:49:41Z</dcterms:modified>
</cp:coreProperties>
</file>